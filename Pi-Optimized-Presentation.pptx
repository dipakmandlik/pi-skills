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658368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309360"/>
            <a:ext cx="6583680" cy="6400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0"/>
            <a:ext cx="50292" cy="685800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"/>
            <a:ext cx="1828800" cy="685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828800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π</a:t>
            </a: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-Optimized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457200" y="2971800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Snowflake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Workspace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7200" y="420624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A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19  |  FastAPI MCP Bridge  |  Snowflake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2636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1.0  |  March 2026  |  Confidential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903720" y="1463040"/>
            <a:ext cx="4983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03720" y="1463040"/>
            <a:ext cx="50292" cy="132588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086600" y="15544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138160" y="1554480"/>
            <a:ext cx="3520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Tools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38160" y="2029968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Snowflake operations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03720" y="3063240"/>
            <a:ext cx="4983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03720" y="3063240"/>
            <a:ext cx="50292" cy="132588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86600" y="31546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6+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8138160" y="3154680"/>
            <a:ext cx="3520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Workflows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138160" y="3630168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SQL Writer to Optimizer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903720" y="4663440"/>
            <a:ext cx="4983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03720" y="4663440"/>
            <a:ext cx="50292" cy="132588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86600" y="47548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4000" dirty="0"/>
          </a:p>
        </p:txBody>
      </p:sp>
      <p:sp>
        <p:nvSpPr>
          <p:cNvPr id="25" name="Text 21"/>
          <p:cNvSpPr/>
          <p:nvPr/>
        </p:nvSpPr>
        <p:spPr>
          <a:xfrm>
            <a:off x="8138160" y="4754880"/>
            <a:ext cx="3520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Modes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138160" y="5230368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&amp; Prod execution guardrails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903720" y="63093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Transforming Enterprises for Future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1005840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Platform Overview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274320" y="1207008"/>
            <a:ext cx="11612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Snowflake analytics workspace combining React frontend, FastAPI MCP bridge, and Snowflake execution layer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182880" y="1901952"/>
            <a:ext cx="281635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82880" y="1901952"/>
            <a:ext cx="28163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82880" y="1901952"/>
            <a:ext cx="2816352" cy="82296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10896" y="1975104"/>
            <a:ext cx="512064" cy="51206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0896" y="19751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skill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932688" y="1938528"/>
            <a:ext cx="19385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Skill-Driven Workflows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32688" y="2322576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role-based skills guide users from business intent to SQL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92608" y="2761488"/>
            <a:ext cx="2596896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9184" y="3017520"/>
            <a:ext cx="146304" cy="14630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6928" y="285292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Architect — schema design and modeling guidance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29184" y="3602736"/>
            <a:ext cx="146304" cy="14630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34381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Engineer — transformation and pipeline SQL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9184" y="4187952"/>
            <a:ext cx="146304" cy="14630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6928" y="4023360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Writer — prompt-to-SQL generation assistant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29184" y="4773168"/>
            <a:ext cx="146304" cy="14630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6928" y="460857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Procedure Writer — full SP authoring workflow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29184" y="5358384"/>
            <a:ext cx="146304" cy="14630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6928" y="5193792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Optimizer — performance and readability review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29184" y="5943600"/>
            <a:ext cx="146304" cy="146304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928" y="577900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Composable skill context for org-specific workflows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182112" y="1901952"/>
            <a:ext cx="281635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182112" y="1901952"/>
            <a:ext cx="2816352" cy="50292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182112" y="1901952"/>
            <a:ext cx="2816352" cy="82296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310128" y="1975104"/>
            <a:ext cx="512064" cy="512064"/>
          </a:xfrm>
          <a:prstGeom prst="ellipse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10128" y="19751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API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931920" y="1938528"/>
            <a:ext cx="19385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Bridge Layer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3931920" y="2322576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 with 7 structured tools over HTTP contracts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291840" y="2761488"/>
            <a:ext cx="2596896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328416" y="3017520"/>
            <a:ext cx="146304" cy="146304"/>
          </a:xfrm>
          <a:prstGeom prst="ellipse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66160" y="285292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/mcp/call — single dispatch for all tool invocations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3328416" y="3602736"/>
            <a:ext cx="146304" cy="146304"/>
          </a:xfrm>
          <a:prstGeom prst="ellipse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566160" y="34381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/mcp/tools — schema discovery for all registered tools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3328416" y="4187952"/>
            <a:ext cx="146304" cy="146304"/>
          </a:xfrm>
          <a:prstGeom prst="ellipse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566160" y="4023360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ToolRegistry — centralised handler dispatch pattern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3328416" y="4773168"/>
            <a:ext cx="146304" cy="146304"/>
          </a:xfrm>
          <a:prstGeom prst="ellipse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566160" y="460857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Identifier and SQL safety validation on every request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3328416" y="5358384"/>
            <a:ext cx="146304" cy="146304"/>
          </a:xfrm>
          <a:prstGeom prst="ellipse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566160" y="5193792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CORS origin allowlist for frontend integration control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3328416" y="5943600"/>
            <a:ext cx="146304" cy="146304"/>
          </a:xfrm>
          <a:prstGeom prst="ellipse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566160" y="577900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/mcp/events — SSE stream for real-time event feed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6181344" y="1901952"/>
            <a:ext cx="281635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6181344" y="1901952"/>
            <a:ext cx="2816352" cy="5029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181344" y="1901952"/>
            <a:ext cx="2816352" cy="82296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309360" y="1975104"/>
            <a:ext cx="512064" cy="512064"/>
          </a:xfrm>
          <a:prstGeom prst="ellipse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309360" y="19751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SF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6931152" y="1938528"/>
            <a:ext cx="19385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 Execution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6931152" y="2322576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execution with guardrails, retries, and safety modes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6291072" y="2761488"/>
            <a:ext cx="2596896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327648" y="3017520"/>
            <a:ext cx="146304" cy="146304"/>
          </a:xfrm>
          <a:prstGeom prst="ellipse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565392" y="285292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Lazy reusable connection with thread-safe locking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6327648" y="3602736"/>
            <a:ext cx="146304" cy="146304"/>
          </a:xfrm>
          <a:prstGeom prst="ellipse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565392" y="34381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Auto-LIMIT injection for unbounded SELECT queries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6327648" y="4187952"/>
            <a:ext cx="146304" cy="146304"/>
          </a:xfrm>
          <a:prstGeom prst="ellipse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6565392" y="4023360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 mode: SELECT, SHOW, DESCRIBE statements only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6327648" y="4773168"/>
            <a:ext cx="146304" cy="146304"/>
          </a:xfrm>
          <a:prstGeom prst="ellipse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565392" y="460857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mode: adds WITH, CREATE, CALL statements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6327648" y="5358384"/>
            <a:ext cx="146304" cy="146304"/>
          </a:xfrm>
          <a:prstGeom prst="ellipse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6565392" y="5193792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Configurable timeout per query (SQL_TIMEOUT_SECONDS)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6327648" y="5943600"/>
            <a:ext cx="146304" cy="146304"/>
          </a:xfrm>
          <a:prstGeom prst="ellipse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6565392" y="577900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Retry-on-failure with automatic connection reset</a:t>
            </a:r>
            <a:endParaRPr lang="en-US" sz="1050" dirty="0"/>
          </a:p>
        </p:txBody>
      </p:sp>
      <p:sp>
        <p:nvSpPr>
          <p:cNvPr id="70" name="Shape 66"/>
          <p:cNvSpPr/>
          <p:nvPr/>
        </p:nvSpPr>
        <p:spPr>
          <a:xfrm>
            <a:off x="9180576" y="1901952"/>
            <a:ext cx="281635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71" name="Shape 67"/>
          <p:cNvSpPr/>
          <p:nvPr/>
        </p:nvSpPr>
        <p:spPr>
          <a:xfrm>
            <a:off x="9180576" y="1901952"/>
            <a:ext cx="2816352" cy="50292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180576" y="1901952"/>
            <a:ext cx="2816352" cy="82296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9308592" y="1975104"/>
            <a:ext cx="512064" cy="512064"/>
          </a:xfrm>
          <a:prstGeom prst="ellipse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308592" y="19751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obs</a:t>
            </a:r>
            <a:endParaRPr lang="en-US" sz="800" dirty="0"/>
          </a:p>
        </p:txBody>
      </p:sp>
      <p:sp>
        <p:nvSpPr>
          <p:cNvPr id="75" name="Text 71"/>
          <p:cNvSpPr/>
          <p:nvPr/>
        </p:nvSpPr>
        <p:spPr>
          <a:xfrm>
            <a:off x="9930384" y="1938528"/>
            <a:ext cx="19385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Observability</a:t>
            </a:r>
            <a:endParaRPr lang="en-US" sz="1200" dirty="0"/>
          </a:p>
        </p:txBody>
      </p:sp>
      <p:sp>
        <p:nvSpPr>
          <p:cNvPr id="76" name="Text 72"/>
          <p:cNvSpPr/>
          <p:nvPr/>
        </p:nvSpPr>
        <p:spPr>
          <a:xfrm>
            <a:off x="9930384" y="2322576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health, metadata, and query result visualisation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9290304" y="2761488"/>
            <a:ext cx="2596896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9326880" y="3017520"/>
            <a:ext cx="146304" cy="146304"/>
          </a:xfrm>
          <a:prstGeom prst="ellipse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9564624" y="285292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/health — connector status and missing env report</a:t>
            </a:r>
            <a:endParaRPr lang="en-US" sz="1050" dirty="0"/>
          </a:p>
        </p:txBody>
      </p:sp>
      <p:sp>
        <p:nvSpPr>
          <p:cNvPr id="80" name="Shape 76"/>
          <p:cNvSpPr/>
          <p:nvPr/>
        </p:nvSpPr>
        <p:spPr>
          <a:xfrm>
            <a:off x="9326880" y="3602736"/>
            <a:ext cx="146304" cy="146304"/>
          </a:xfrm>
          <a:prstGeom prst="ellipse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9564624" y="343814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metadata: runtime, row count, SQL echoed</a:t>
            </a:r>
            <a:endParaRPr lang="en-US" sz="1050" dirty="0"/>
          </a:p>
        </p:txBody>
      </p:sp>
      <p:sp>
        <p:nvSpPr>
          <p:cNvPr id="82" name="Shape 78"/>
          <p:cNvSpPr/>
          <p:nvPr/>
        </p:nvSpPr>
        <p:spPr>
          <a:xfrm>
            <a:off x="9326880" y="4187952"/>
            <a:ext cx="146304" cy="146304"/>
          </a:xfrm>
          <a:prstGeom prst="ellipse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564624" y="4023360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bridge heartbeat monitored from center panel UI</a:t>
            </a:r>
            <a:endParaRPr lang="en-US" sz="1050" dirty="0"/>
          </a:p>
        </p:txBody>
      </p:sp>
      <p:sp>
        <p:nvSpPr>
          <p:cNvPr id="84" name="Shape 80"/>
          <p:cNvSpPr/>
          <p:nvPr/>
        </p:nvSpPr>
        <p:spPr>
          <a:xfrm>
            <a:off x="9326880" y="4773168"/>
            <a:ext cx="146304" cy="146304"/>
          </a:xfrm>
          <a:prstGeom prst="ellipse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9564624" y="4608576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Recharts visualisation for tabular query results</a:t>
            </a:r>
            <a:endParaRPr lang="en-US" sz="1050" dirty="0"/>
          </a:p>
        </p:txBody>
      </p:sp>
      <p:sp>
        <p:nvSpPr>
          <p:cNvPr id="86" name="Shape 82"/>
          <p:cNvSpPr/>
          <p:nvPr/>
        </p:nvSpPr>
        <p:spPr>
          <a:xfrm>
            <a:off x="9326880" y="5358384"/>
            <a:ext cx="146304" cy="146304"/>
          </a:xfrm>
          <a:prstGeom prst="ellipse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9564624" y="5193792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 explorer with database/schema/table tree</a:t>
            </a:r>
            <a:endParaRPr lang="en-US" sz="1050" dirty="0"/>
          </a:p>
        </p:txBody>
      </p:sp>
      <p:sp>
        <p:nvSpPr>
          <p:cNvPr id="88" name="Shape 84"/>
          <p:cNvSpPr/>
          <p:nvPr/>
        </p:nvSpPr>
        <p:spPr>
          <a:xfrm>
            <a:off x="9326880" y="5943600"/>
            <a:ext cx="146304" cy="146304"/>
          </a:xfrm>
          <a:prstGeom prst="ellipse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9564624" y="5779008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 list cache (TTL 300s) for fast browsing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71323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User Journey  |  From Intent to Insight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82880" y="1664208"/>
            <a:ext cx="221284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82880" y="1664208"/>
            <a:ext cx="2212848" cy="4572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14984" y="1389888"/>
            <a:ext cx="548640" cy="548640"/>
          </a:xfrm>
          <a:prstGeom prst="ellipse">
            <a:avLst/>
          </a:prstGeom>
          <a:solidFill>
            <a:srgbClr val="29B5E8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14984" y="13898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4320" y="17556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Skills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" y="2157984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2231136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one or more role-based skills from the left panel to set workflow context for your session.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395728" y="2624328"/>
            <a:ext cx="164592" cy="0"/>
          </a:xfrm>
          <a:prstGeom prst="line">
            <a:avLst/>
          </a:prstGeom>
          <a:noFill/>
          <a:ln w="19050">
            <a:solidFill>
              <a:srgbClr val="29B5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0" y="1664208"/>
            <a:ext cx="221284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560320" y="1664208"/>
            <a:ext cx="2212848" cy="4572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92424" y="1389888"/>
            <a:ext cx="548640" cy="548640"/>
          </a:xfrm>
          <a:prstGeom prst="ellipse">
            <a:avLst/>
          </a:prstGeom>
          <a:solidFill>
            <a:srgbClr val="29B5E8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92424" y="13898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651760" y="17556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Request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788920" y="2157984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51760" y="2231136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a business question or SQL intent in the centre panel. Composer captures your prompt and selected skill context.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73168" y="2624328"/>
            <a:ext cx="164592" cy="0"/>
          </a:xfrm>
          <a:prstGeom prst="line">
            <a:avLst/>
          </a:prstGeom>
          <a:noFill/>
          <a:ln w="19050">
            <a:solidFill>
              <a:srgbClr val="29B5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937760" y="1664208"/>
            <a:ext cx="221284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937760" y="1664208"/>
            <a:ext cx="2212848" cy="45720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769864" y="1389888"/>
            <a:ext cx="548640" cy="548640"/>
          </a:xfrm>
          <a:prstGeom prst="ellipse">
            <a:avLst/>
          </a:prstGeom>
          <a:solidFill>
            <a:srgbClr val="1D4A98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69864" y="13898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029200" y="17556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 Routing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166360" y="2157984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0" y="2231136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routes automatically: SQL passthrough, AI generation, Stored Procedure workflow, or Query Optimizer path.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7150608" y="2624328"/>
            <a:ext cx="164592" cy="0"/>
          </a:xfrm>
          <a:prstGeom prst="line">
            <a:avLst/>
          </a:prstGeom>
          <a:noFill/>
          <a:ln w="19050">
            <a:solidFill>
              <a:srgbClr val="1D4A9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315200" y="1664208"/>
            <a:ext cx="221284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315200" y="1664208"/>
            <a:ext cx="2212848" cy="45720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147304" y="1389888"/>
            <a:ext cx="548640" cy="548640"/>
          </a:xfrm>
          <a:prstGeom prst="ellipse">
            <a:avLst/>
          </a:prstGeom>
          <a:solidFill>
            <a:srgbClr val="1D4A98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147304" y="13898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406640" y="17556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Draft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7543800" y="2157984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406640" y="2231136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or refined SQL appears in the right panel editor. Ready to inspect, edit, or execute immediately.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9528048" y="2624328"/>
            <a:ext cx="164592" cy="0"/>
          </a:xfrm>
          <a:prstGeom prst="line">
            <a:avLst/>
          </a:prstGeom>
          <a:noFill/>
          <a:ln w="19050">
            <a:solidFill>
              <a:srgbClr val="1D4A9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692640" y="1664208"/>
            <a:ext cx="221284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9692640" y="1664208"/>
            <a:ext cx="2212848" cy="45720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0524744" y="1389888"/>
            <a:ext cx="548640" cy="548640"/>
          </a:xfrm>
          <a:prstGeom prst="ellipse">
            <a:avLst/>
          </a:prstGeom>
          <a:solidFill>
            <a:srgbClr val="00518E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0524744" y="13898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9784080" y="1755648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Query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9921240" y="2157984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84080" y="2231136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clicks Execute. Frontend calls POST /mcp/call with run_query tool and the current SQL from the editor.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182880" y="3968496"/>
            <a:ext cx="2212848" cy="1920240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182880" y="3968496"/>
            <a:ext cx="2212848" cy="45720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14984" y="3694176"/>
            <a:ext cx="548640" cy="548640"/>
          </a:xfrm>
          <a:prstGeom prst="ellipse">
            <a:avLst/>
          </a:prstGeom>
          <a:solidFill>
            <a:srgbClr val="00518E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014984" y="36941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274320" y="4059936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Dispatch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411480" y="4462272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74320" y="4535424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bridge receives the call, routes to ToolRegistry, and validates identifiers and SQL safety mode rules.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2395728" y="4928616"/>
            <a:ext cx="164592" cy="0"/>
          </a:xfrm>
          <a:prstGeom prst="line">
            <a:avLst/>
          </a:prstGeom>
          <a:noFill/>
          <a:ln w="19050">
            <a:solidFill>
              <a:srgbClr val="00518E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2560320" y="3968496"/>
            <a:ext cx="2212848" cy="1920240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57" name="Shape 53"/>
          <p:cNvSpPr/>
          <p:nvPr/>
        </p:nvSpPr>
        <p:spPr>
          <a:xfrm>
            <a:off x="2560320" y="3968496"/>
            <a:ext cx="2212848" cy="45720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392424" y="3694176"/>
            <a:ext cx="548640" cy="548640"/>
          </a:xfrm>
          <a:prstGeom prst="ellipse">
            <a:avLst/>
          </a:prstGeom>
          <a:solidFill>
            <a:srgbClr val="16578D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392424" y="36941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60" name="Text 56"/>
          <p:cNvSpPr/>
          <p:nvPr/>
        </p:nvSpPr>
        <p:spPr>
          <a:xfrm>
            <a:off x="2651760" y="4059936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Check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2788920" y="4462272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2651760" y="4535424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classified by sqlglot. Blocked if outside allowed statements for current mode. Auto-LIMIT applied if missing.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4773168" y="4928616"/>
            <a:ext cx="164592" cy="0"/>
          </a:xfrm>
          <a:prstGeom prst="line">
            <a:avLst/>
          </a:prstGeom>
          <a:noFill/>
          <a:ln w="19050">
            <a:solidFill>
              <a:srgbClr val="16578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937760" y="3968496"/>
            <a:ext cx="2212848" cy="1920240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4937760" y="3968496"/>
            <a:ext cx="2212848" cy="45720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769864" y="3694176"/>
            <a:ext cx="548640" cy="548640"/>
          </a:xfrm>
          <a:prstGeom prst="ellipse">
            <a:avLst/>
          </a:prstGeom>
          <a:solidFill>
            <a:srgbClr val="16578D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5769864" y="36941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68" name="Text 64"/>
          <p:cNvSpPr/>
          <p:nvPr/>
        </p:nvSpPr>
        <p:spPr>
          <a:xfrm>
            <a:off x="5029200" y="4059936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69" name="Shape 65"/>
          <p:cNvSpPr/>
          <p:nvPr/>
        </p:nvSpPr>
        <p:spPr>
          <a:xfrm>
            <a:off x="5166360" y="4462272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5029200" y="4535424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query executes against Snowflake. Connection retried on failure. Results and row count returned.</a:t>
            </a:r>
            <a:endParaRPr lang="en-US" sz="1000" dirty="0"/>
          </a:p>
        </p:txBody>
      </p:sp>
      <p:sp>
        <p:nvSpPr>
          <p:cNvPr id="71" name="Shape 67"/>
          <p:cNvSpPr/>
          <p:nvPr/>
        </p:nvSpPr>
        <p:spPr>
          <a:xfrm>
            <a:off x="7150608" y="4928616"/>
            <a:ext cx="164592" cy="0"/>
          </a:xfrm>
          <a:prstGeom prst="line">
            <a:avLst/>
          </a:prstGeom>
          <a:noFill/>
          <a:ln w="19050">
            <a:solidFill>
              <a:srgbClr val="16578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7315200" y="3968496"/>
            <a:ext cx="2212848" cy="1920240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7315200" y="3968496"/>
            <a:ext cx="2212848" cy="45720"/>
          </a:xfrm>
          <a:prstGeom prst="rect">
            <a:avLst/>
          </a:prstGeom>
          <a:solidFill>
            <a:srgbClr val="0D1A7D"/>
          </a:solidFill>
          <a:ln w="12700">
            <a:solidFill>
              <a:srgbClr val="0D1A7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8147304" y="3694176"/>
            <a:ext cx="548640" cy="548640"/>
          </a:xfrm>
          <a:prstGeom prst="ellipse">
            <a:avLst/>
          </a:prstGeom>
          <a:solidFill>
            <a:srgbClr val="0D1A7D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8147304" y="36941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76" name="Text 72"/>
          <p:cNvSpPr/>
          <p:nvPr/>
        </p:nvSpPr>
        <p:spPr>
          <a:xfrm>
            <a:off x="7406640" y="4059936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77" name="Shape 73"/>
          <p:cNvSpPr/>
          <p:nvPr/>
        </p:nvSpPr>
        <p:spPr>
          <a:xfrm>
            <a:off x="7543800" y="4462272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7406640" y="4535424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renders result as table or Recharts chart. Execution metadata shown: runtime, rows, and SQL echoed.</a:t>
            </a:r>
            <a:endParaRPr lang="en-US" sz="1000" dirty="0"/>
          </a:p>
        </p:txBody>
      </p:sp>
      <p:sp>
        <p:nvSpPr>
          <p:cNvPr id="79" name="Shape 75"/>
          <p:cNvSpPr/>
          <p:nvPr/>
        </p:nvSpPr>
        <p:spPr>
          <a:xfrm>
            <a:off x="9528048" y="4928616"/>
            <a:ext cx="164592" cy="0"/>
          </a:xfrm>
          <a:prstGeom prst="line">
            <a:avLst/>
          </a:prstGeom>
          <a:noFill/>
          <a:ln w="19050">
            <a:solidFill>
              <a:srgbClr val="0D1A7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9692640" y="3968496"/>
            <a:ext cx="2212848" cy="1920240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81" name="Shape 77"/>
          <p:cNvSpPr/>
          <p:nvPr/>
        </p:nvSpPr>
        <p:spPr>
          <a:xfrm>
            <a:off x="9692640" y="3968496"/>
            <a:ext cx="2212848" cy="45720"/>
          </a:xfrm>
          <a:prstGeom prst="rect">
            <a:avLst/>
          </a:prstGeom>
          <a:solidFill>
            <a:srgbClr val="0D1A7D"/>
          </a:solidFill>
          <a:ln w="12700">
            <a:solidFill>
              <a:srgbClr val="0D1A7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10524744" y="3694176"/>
            <a:ext cx="548640" cy="548640"/>
          </a:xfrm>
          <a:prstGeom prst="ellipse">
            <a:avLst/>
          </a:prstGeom>
          <a:solidFill>
            <a:srgbClr val="0D1A7D"/>
          </a:solidFill>
          <a:ln w="25400">
            <a:solidFill>
              <a:srgbClr val="F5F8FC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10524744" y="36941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84" name="Text 80"/>
          <p:cNvSpPr/>
          <p:nvPr/>
        </p:nvSpPr>
        <p:spPr>
          <a:xfrm>
            <a:off x="9784080" y="4059936"/>
            <a:ext cx="2029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Iterate</a:t>
            </a:r>
            <a:endParaRPr lang="en-US" sz="1200" dirty="0"/>
          </a:p>
        </p:txBody>
      </p:sp>
      <p:sp>
        <p:nvSpPr>
          <p:cNvPr id="85" name="Shape 81"/>
          <p:cNvSpPr/>
          <p:nvPr/>
        </p:nvSpPr>
        <p:spPr>
          <a:xfrm>
            <a:off x="9921240" y="4462272"/>
            <a:ext cx="1755648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9784080" y="4535424"/>
            <a:ext cx="2029968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refines prompt or edits SQL directly and repeats. Each cycle tightens the query toward intended output.</a:t>
            </a:r>
            <a:endParaRPr lang="en-US" sz="1000" dirty="0"/>
          </a:p>
        </p:txBody>
      </p:sp>
      <p:sp>
        <p:nvSpPr>
          <p:cNvPr id="87" name="Text 83"/>
          <p:cNvSpPr/>
          <p:nvPr/>
        </p:nvSpPr>
        <p:spPr>
          <a:xfrm>
            <a:off x="201168" y="14630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1-5: User-Facing Workflow</a:t>
            </a:r>
            <a:endParaRPr lang="en-US" sz="850" dirty="0"/>
          </a:p>
        </p:txBody>
      </p:sp>
      <p:sp>
        <p:nvSpPr>
          <p:cNvPr id="88" name="Text 84"/>
          <p:cNvSpPr/>
          <p:nvPr/>
        </p:nvSpPr>
        <p:spPr>
          <a:xfrm>
            <a:off x="201168" y="374904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6-10: Backend and Execution Flow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71323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 |  Three-Tier Design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28600" y="1691640"/>
            <a:ext cx="382219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28600" y="1691640"/>
            <a:ext cx="3822192" cy="47548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8328" y="1691640"/>
            <a:ext cx="3621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93192" y="2450592"/>
            <a:ext cx="146304" cy="146304"/>
          </a:xfrm>
          <a:prstGeom prst="rect">
            <a:avLst/>
          </a:prstGeom>
          <a:solidFill>
            <a:srgbClr val="29B5E8">
              <a:alpha val="70000"/>
            </a:srgbClr>
          </a:solidFill>
          <a:ln w="12700">
            <a:solidFill>
              <a:srgbClr val="29B5E8">
                <a:alpha val="7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226771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 Panel — Skills and context selection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3192" y="3072384"/>
            <a:ext cx="146304" cy="146304"/>
          </a:xfrm>
          <a:prstGeom prst="rect">
            <a:avLst/>
          </a:prstGeom>
          <a:solidFill>
            <a:srgbClr val="29B5E8">
              <a:alpha val="70000"/>
            </a:srgbClr>
          </a:solidFill>
          <a:ln w="12700">
            <a:solidFill>
              <a:srgbClr val="29B5E8">
                <a:alpha val="7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2889504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Center Panel — Prompt orchestration and health checks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93192" y="3694176"/>
            <a:ext cx="146304" cy="146304"/>
          </a:xfrm>
          <a:prstGeom prst="rect">
            <a:avLst/>
          </a:prstGeom>
          <a:solidFill>
            <a:srgbClr val="29B5E8">
              <a:alpha val="70000"/>
            </a:srgbClr>
          </a:solidFill>
          <a:ln w="12700">
            <a:solidFill>
              <a:srgbClr val="29B5E8">
                <a:alpha val="7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3511296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Right Panel — SQL editor, Snowflake explorer, results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93192" y="4315968"/>
            <a:ext cx="146304" cy="146304"/>
          </a:xfrm>
          <a:prstGeom prst="rect">
            <a:avLst/>
          </a:prstGeom>
          <a:solidFill>
            <a:srgbClr val="29B5E8">
              <a:alpha val="70000"/>
            </a:srgbClr>
          </a:solidFill>
          <a:ln w="12700">
            <a:solidFill>
              <a:srgbClr val="29B5E8">
                <a:alpha val="7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" y="4133088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Zustand global state management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93192" y="4937760"/>
            <a:ext cx="146304" cy="146304"/>
          </a:xfrm>
          <a:prstGeom prst="rect">
            <a:avLst/>
          </a:prstGeom>
          <a:solidFill>
            <a:srgbClr val="29B5E8">
              <a:alpha val="70000"/>
            </a:srgbClr>
          </a:solidFill>
          <a:ln w="12700">
            <a:solidFill>
              <a:srgbClr val="29B5E8">
                <a:alpha val="7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475488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MCPClient with timeout and abort handling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93192" y="5559552"/>
            <a:ext cx="146304" cy="146304"/>
          </a:xfrm>
          <a:prstGeom prst="rect">
            <a:avLst/>
          </a:prstGeom>
          <a:solidFill>
            <a:srgbClr val="29B5E8">
              <a:alpha val="70000"/>
            </a:srgbClr>
          </a:solidFill>
          <a:ln w="12700">
            <a:solidFill>
              <a:srgbClr val="29B5E8">
                <a:alpha val="7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" y="537667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Recharts visualization and Motion animations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315968" y="1691640"/>
            <a:ext cx="382219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315968" y="1691640"/>
            <a:ext cx="3822192" cy="475488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425696" y="1691640"/>
            <a:ext cx="3621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MCP BRIDGE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480560" y="2450592"/>
            <a:ext cx="146304" cy="146304"/>
          </a:xfrm>
          <a:prstGeom prst="rect">
            <a:avLst/>
          </a:prstGeom>
          <a:solidFill>
            <a:srgbClr val="1D4A98">
              <a:alpha val="70000"/>
            </a:srgbClr>
          </a:solidFill>
          <a:ln w="12700">
            <a:solidFill>
              <a:srgbClr val="1D4A98">
                <a:alpha val="7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27448" y="226771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/health  |  GET /mcp/tools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480560" y="3072384"/>
            <a:ext cx="146304" cy="146304"/>
          </a:xfrm>
          <a:prstGeom prst="rect">
            <a:avLst/>
          </a:prstGeom>
          <a:solidFill>
            <a:srgbClr val="1D4A98">
              <a:alpha val="70000"/>
            </a:srgbClr>
          </a:solidFill>
          <a:ln w="12700">
            <a:solidFill>
              <a:srgbClr val="1D4A98">
                <a:alpha val="7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27448" y="2889504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/mcp/call  |  GET /mcp/events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480560" y="3694176"/>
            <a:ext cx="146304" cy="146304"/>
          </a:xfrm>
          <a:prstGeom prst="rect">
            <a:avLst/>
          </a:prstGeom>
          <a:solidFill>
            <a:srgbClr val="1D4A98">
              <a:alpha val="70000"/>
            </a:srgbClr>
          </a:solidFill>
          <a:ln w="12700">
            <a:solidFill>
              <a:srgbClr val="1D4A98">
                <a:alpha val="7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27448" y="3511296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ToolRegistry — dispatcher for all tool handlers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480560" y="4315968"/>
            <a:ext cx="146304" cy="146304"/>
          </a:xfrm>
          <a:prstGeom prst="rect">
            <a:avLst/>
          </a:prstGeom>
          <a:solidFill>
            <a:srgbClr val="1D4A98">
              <a:alpha val="70000"/>
            </a:srgbClr>
          </a:solidFill>
          <a:ln w="12700">
            <a:solidFill>
              <a:srgbClr val="1D4A98">
                <a:alpha val="70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27448" y="4133088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layer — identifier and SQL safety validation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480560" y="4937760"/>
            <a:ext cx="146304" cy="146304"/>
          </a:xfrm>
          <a:prstGeom prst="rect">
            <a:avLst/>
          </a:prstGeom>
          <a:solidFill>
            <a:srgbClr val="1D4A98">
              <a:alpha val="70000"/>
            </a:srgbClr>
          </a:solidFill>
          <a:ln w="12700">
            <a:solidFill>
              <a:srgbClr val="1D4A98">
                <a:alpha val="7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27448" y="475488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SnowflakeClient — lazy connection, retries, cache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480560" y="5559552"/>
            <a:ext cx="146304" cy="146304"/>
          </a:xfrm>
          <a:prstGeom prst="rect">
            <a:avLst/>
          </a:prstGeom>
          <a:solidFill>
            <a:srgbClr val="1D4A98">
              <a:alpha val="70000"/>
            </a:srgbClr>
          </a:solidFill>
          <a:ln w="12700">
            <a:solidFill>
              <a:srgbClr val="1D4A98">
                <a:alpha val="70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27448" y="537667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sqlglot — statement parsing and classification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8412480" y="1691640"/>
            <a:ext cx="3822192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8412480" y="1691640"/>
            <a:ext cx="3822192" cy="475488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522208" y="1691640"/>
            <a:ext cx="36210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8577072" y="2450592"/>
            <a:ext cx="146304" cy="146304"/>
          </a:xfrm>
          <a:prstGeom prst="rect">
            <a:avLst/>
          </a:prstGeom>
          <a:solidFill>
            <a:srgbClr val="00518E">
              <a:alpha val="70000"/>
            </a:srgbClr>
          </a:solidFill>
          <a:ln w="12700">
            <a:solidFill>
              <a:srgbClr val="00518E">
                <a:alpha val="70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823960" y="226771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execution (SELECT, SHOW, DESCRIBE)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8577072" y="3072384"/>
            <a:ext cx="146304" cy="146304"/>
          </a:xfrm>
          <a:prstGeom prst="rect">
            <a:avLst/>
          </a:prstGeom>
          <a:solidFill>
            <a:srgbClr val="00518E">
              <a:alpha val="70000"/>
            </a:srgbClr>
          </a:solidFill>
          <a:ln w="12700">
            <a:solidFill>
              <a:srgbClr val="00518E">
                <a:alpha val="7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823960" y="2889504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 discovery via SHOW and DESC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8577072" y="3694176"/>
            <a:ext cx="146304" cy="146304"/>
          </a:xfrm>
          <a:prstGeom prst="rect">
            <a:avLst/>
          </a:prstGeom>
          <a:solidFill>
            <a:srgbClr val="00518E">
              <a:alpha val="70000"/>
            </a:srgbClr>
          </a:solidFill>
          <a:ln w="12700">
            <a:solidFill>
              <a:srgbClr val="00518E">
                <a:alpha val="70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823960" y="3511296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 usage analytics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577072" y="4315968"/>
            <a:ext cx="146304" cy="146304"/>
          </a:xfrm>
          <a:prstGeom prst="rect">
            <a:avLst/>
          </a:prstGeom>
          <a:solidFill>
            <a:srgbClr val="00518E">
              <a:alpha val="70000"/>
            </a:srgbClr>
          </a:solidFill>
          <a:ln w="12700">
            <a:solidFill>
              <a:srgbClr val="00518E">
                <a:alpha val="7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823960" y="4133088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 mode: SELECT, SHOW, DESCRIBE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8577072" y="4937760"/>
            <a:ext cx="146304" cy="146304"/>
          </a:xfrm>
          <a:prstGeom prst="rect">
            <a:avLst/>
          </a:prstGeom>
          <a:solidFill>
            <a:srgbClr val="00518E">
              <a:alpha val="70000"/>
            </a:srgbClr>
          </a:solidFill>
          <a:ln w="12700">
            <a:solidFill>
              <a:srgbClr val="00518E">
                <a:alpha val="70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823960" y="475488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mode: adds WITH, CREATE, CALL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8577072" y="5559552"/>
            <a:ext cx="146304" cy="146304"/>
          </a:xfrm>
          <a:prstGeom prst="rect">
            <a:avLst/>
          </a:prstGeom>
          <a:solidFill>
            <a:srgbClr val="00518E">
              <a:alpha val="70000"/>
            </a:srgbClr>
          </a:solidFill>
          <a:ln w="12700">
            <a:solidFill>
              <a:srgbClr val="00518E">
                <a:alpha val="70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823960" y="5376672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LIMIT injection for unbounded queries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4050792" y="3749040"/>
            <a:ext cx="265176" cy="164592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050792" y="3749040"/>
            <a:ext cx="2651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B5E8"/>
                </a:solidFill>
              </a:rPr>
              <a:t>-&gt;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3593592" y="3950208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(GET/POST)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8138160" y="3749040"/>
            <a:ext cx="265176" cy="164592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138160" y="3749040"/>
            <a:ext cx="2651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B5E8"/>
                </a:solidFill>
              </a:rPr>
              <a:t>-&gt;</a:t>
            </a: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7680960" y="3950208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 Connector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71323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Tool Catalog  |  7 Structured Snowflake Operations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55448" y="1719072"/>
            <a:ext cx="286207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55448" y="1719072"/>
            <a:ext cx="2862072" cy="54864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28800" y="1810512"/>
            <a:ext cx="1097280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0" y="1810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65176" y="1810512"/>
            <a:ext cx="14721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run_query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65176" y="2212848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5176" y="2286000"/>
            <a:ext cx="264261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SQL against Snowflake with full safety mode controls and configurable timeout.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5176" y="272491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IN: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57784" y="2724912"/>
            <a:ext cx="23500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(string), max_rows (optional integer)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65176" y="3017520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30936" y="3017520"/>
            <a:ext cx="22768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columns[ ], rows[ ], row_count, runtime_ms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65176" y="3346704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65176" y="3401568"/>
            <a:ext cx="26426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mode enforced. Auto-LIMIT injected. Results hard-capped.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127248" y="1719072"/>
            <a:ext cx="286207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127248" y="1719072"/>
            <a:ext cx="2862072" cy="5486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92040" y="1810512"/>
            <a:ext cx="1005840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92040" y="181051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236976" y="1810512"/>
            <a:ext cx="1563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list_databases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3236976" y="2212848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36976" y="2286000"/>
            <a:ext cx="264261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all available databases visible to the Snowflake account role.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236976" y="272491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IN: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529584" y="2724912"/>
            <a:ext cx="23500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required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236976" y="3017520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OUT: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602736" y="3017520"/>
            <a:ext cx="22768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databases[ ]  — array of database name strings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236976" y="3346704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36976" y="3401568"/>
            <a:ext cx="26426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SHOW DATABASES. Results cached server-side for repeated calls.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099048" y="1719072"/>
            <a:ext cx="286207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099048" y="1719072"/>
            <a:ext cx="2862072" cy="5486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863840" y="1810512"/>
            <a:ext cx="1005840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863840" y="181051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6208776" y="1810512"/>
            <a:ext cx="1563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list_schemas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208776" y="2212848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08776" y="2286000"/>
            <a:ext cx="264261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schemas within a specified, regex-validated database identifier.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208776" y="272491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IN: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6501384" y="2724912"/>
            <a:ext cx="23500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(validated identifier string)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208776" y="3017520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OUT: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574536" y="3017520"/>
            <a:ext cx="22768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schemas[ ]  — array of schema name strings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6208776" y="3346704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208776" y="3401568"/>
            <a:ext cx="26426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Identifier regex-validated. Uses SHOW SCHEMAS IN DATABASE.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9070848" y="1719072"/>
            <a:ext cx="2862072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9070848" y="1719072"/>
            <a:ext cx="2862072" cy="5486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835640" y="1810512"/>
            <a:ext cx="1005840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0835640" y="181051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9180576" y="1810512"/>
            <a:ext cx="1563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list_tables</a:t>
            </a:r>
            <a:endParaRPr lang="en-US" sz="1250" dirty="0"/>
          </a:p>
        </p:txBody>
      </p:sp>
      <p:sp>
        <p:nvSpPr>
          <p:cNvPr id="53" name="Shape 49"/>
          <p:cNvSpPr/>
          <p:nvPr/>
        </p:nvSpPr>
        <p:spPr>
          <a:xfrm>
            <a:off x="9180576" y="2212848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180576" y="2286000"/>
            <a:ext cx="2642616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tables within a validated schema, with server-side TTL caching.</a:t>
            </a:r>
            <a:endParaRPr lang="en-US" sz="1050" dirty="0"/>
          </a:p>
        </p:txBody>
      </p:sp>
      <p:sp>
        <p:nvSpPr>
          <p:cNvPr id="55" name="Text 51"/>
          <p:cNvSpPr/>
          <p:nvPr/>
        </p:nvSpPr>
        <p:spPr>
          <a:xfrm>
            <a:off x="9180576" y="272491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IN: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9473184" y="2724912"/>
            <a:ext cx="23500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database, schema (both validated identifiers)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9180576" y="3017520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B5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OUT: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9546336" y="3017520"/>
            <a:ext cx="22768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tables[ ]  — array of table name strings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9180576" y="3346704"/>
            <a:ext cx="2642616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9180576" y="3401568"/>
            <a:ext cx="26426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TTL cache 300s per schema key. Uses SHOW TABLES IN SCHEMA.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704088" y="4352544"/>
            <a:ext cx="36576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704088" y="4352544"/>
            <a:ext cx="3657600" cy="54864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264408" y="4443984"/>
            <a:ext cx="1005840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3264408" y="444398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51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</a:t>
            </a:r>
            <a:endParaRPr lang="en-US" sz="850" dirty="0"/>
          </a:p>
        </p:txBody>
      </p:sp>
      <p:sp>
        <p:nvSpPr>
          <p:cNvPr id="65" name="Text 61"/>
          <p:cNvSpPr/>
          <p:nvPr/>
        </p:nvSpPr>
        <p:spPr>
          <a:xfrm>
            <a:off x="813816" y="4443984"/>
            <a:ext cx="23591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describe_table</a:t>
            </a:r>
            <a:endParaRPr lang="en-US" sz="1250" dirty="0"/>
          </a:p>
        </p:txBody>
      </p:sp>
      <p:sp>
        <p:nvSpPr>
          <p:cNvPr id="66" name="Shape 62"/>
          <p:cNvSpPr/>
          <p:nvPr/>
        </p:nvSpPr>
        <p:spPr>
          <a:xfrm>
            <a:off x="813816" y="4846320"/>
            <a:ext cx="3438144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813816" y="4919472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column definitions and data types for a fully-qualified table.</a:t>
            </a:r>
            <a:endParaRPr lang="en-US" sz="1050" dirty="0"/>
          </a:p>
        </p:txBody>
      </p:sp>
      <p:sp>
        <p:nvSpPr>
          <p:cNvPr id="68" name="Text 64"/>
          <p:cNvSpPr/>
          <p:nvPr/>
        </p:nvSpPr>
        <p:spPr>
          <a:xfrm>
            <a:off x="813816" y="5358384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1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IN: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1106424" y="5358384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database, schema, table (all validated identifiers)</a:t>
            </a:r>
            <a:endParaRPr lang="en-US" sz="950" dirty="0"/>
          </a:p>
        </p:txBody>
      </p:sp>
      <p:sp>
        <p:nvSpPr>
          <p:cNvPr id="70" name="Text 66"/>
          <p:cNvSpPr/>
          <p:nvPr/>
        </p:nvSpPr>
        <p:spPr>
          <a:xfrm>
            <a:off x="813816" y="565099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1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OUT: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1179576" y="5650992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columns[ ]  — name, type, nullable, default per column</a:t>
            </a:r>
            <a:endParaRPr lang="en-US" sz="950" dirty="0"/>
          </a:p>
        </p:txBody>
      </p:sp>
      <p:sp>
        <p:nvSpPr>
          <p:cNvPr id="72" name="Shape 68"/>
          <p:cNvSpPr/>
          <p:nvPr/>
        </p:nvSpPr>
        <p:spPr>
          <a:xfrm>
            <a:off x="813816" y="5980176"/>
            <a:ext cx="3438144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813816" y="6035040"/>
            <a:ext cx="343814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DESC TABLE. Feeds SQL generation context in explorer.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4361688" y="4352544"/>
            <a:ext cx="36576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4361688" y="4352544"/>
            <a:ext cx="3657600" cy="54864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7196328" y="4443984"/>
            <a:ext cx="731520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7196328" y="444398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57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</a:t>
            </a:r>
            <a:endParaRPr lang="en-US" sz="850" dirty="0"/>
          </a:p>
        </p:txBody>
      </p:sp>
      <p:sp>
        <p:nvSpPr>
          <p:cNvPr id="78" name="Text 74"/>
          <p:cNvSpPr/>
          <p:nvPr/>
        </p:nvSpPr>
        <p:spPr>
          <a:xfrm>
            <a:off x="4471416" y="4443984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list_warehouses</a:t>
            </a:r>
            <a:endParaRPr lang="en-US" sz="1250" dirty="0"/>
          </a:p>
        </p:txBody>
      </p:sp>
      <p:sp>
        <p:nvSpPr>
          <p:cNvPr id="79" name="Shape 75"/>
          <p:cNvSpPr/>
          <p:nvPr/>
        </p:nvSpPr>
        <p:spPr>
          <a:xfrm>
            <a:off x="4471416" y="4846320"/>
            <a:ext cx="3438144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4471416" y="4919472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available warehouse details for the connected Snowflake account.</a:t>
            </a:r>
            <a:endParaRPr lang="en-US" sz="1050" dirty="0"/>
          </a:p>
        </p:txBody>
      </p:sp>
      <p:sp>
        <p:nvSpPr>
          <p:cNvPr id="81" name="Text 77"/>
          <p:cNvSpPr/>
          <p:nvPr/>
        </p:nvSpPr>
        <p:spPr>
          <a:xfrm>
            <a:off x="4471416" y="5358384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57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IN: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4764024" y="5358384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required</a:t>
            </a:r>
            <a:endParaRPr lang="en-US" sz="950" dirty="0"/>
          </a:p>
        </p:txBody>
      </p:sp>
      <p:sp>
        <p:nvSpPr>
          <p:cNvPr id="83" name="Text 79"/>
          <p:cNvSpPr/>
          <p:nvPr/>
        </p:nvSpPr>
        <p:spPr>
          <a:xfrm>
            <a:off x="4471416" y="565099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57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OUT:</a:t>
            </a:r>
            <a:endParaRPr lang="en-US" sz="900" dirty="0"/>
          </a:p>
        </p:txBody>
      </p:sp>
      <p:sp>
        <p:nvSpPr>
          <p:cNvPr id="84" name="Text 80"/>
          <p:cNvSpPr/>
          <p:nvPr/>
        </p:nvSpPr>
        <p:spPr>
          <a:xfrm>
            <a:off x="4837176" y="5650992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warehouses[ ]  — name, size, state, type per warehouse</a:t>
            </a:r>
            <a:endParaRPr lang="en-US" sz="950" dirty="0"/>
          </a:p>
        </p:txBody>
      </p:sp>
      <p:sp>
        <p:nvSpPr>
          <p:cNvPr id="85" name="Shape 81"/>
          <p:cNvSpPr/>
          <p:nvPr/>
        </p:nvSpPr>
        <p:spPr>
          <a:xfrm>
            <a:off x="4471416" y="5980176"/>
            <a:ext cx="3438144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4471416" y="6035040"/>
            <a:ext cx="343814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SHOW WAREHOUSES. Supports warehouse selector in explorer UI.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8019288" y="4352544"/>
            <a:ext cx="36576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88" name="Shape 84"/>
          <p:cNvSpPr/>
          <p:nvPr/>
        </p:nvSpPr>
        <p:spPr>
          <a:xfrm>
            <a:off x="8019288" y="4352544"/>
            <a:ext cx="365760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0488168" y="4443984"/>
            <a:ext cx="1097280" cy="25603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10488168" y="444398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850" dirty="0"/>
          </a:p>
        </p:txBody>
      </p:sp>
      <p:sp>
        <p:nvSpPr>
          <p:cNvPr id="91" name="Text 87"/>
          <p:cNvSpPr/>
          <p:nvPr/>
        </p:nvSpPr>
        <p:spPr>
          <a:xfrm>
            <a:off x="8129016" y="4443984"/>
            <a:ext cx="22677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warehouse_usage</a:t>
            </a:r>
            <a:endParaRPr lang="en-US" sz="1250" dirty="0"/>
          </a:p>
        </p:txBody>
      </p:sp>
      <p:sp>
        <p:nvSpPr>
          <p:cNvPr id="92" name="Shape 88"/>
          <p:cNvSpPr/>
          <p:nvPr/>
        </p:nvSpPr>
        <p:spPr>
          <a:xfrm>
            <a:off x="8129016" y="4846320"/>
            <a:ext cx="3438144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129016" y="4919472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credit utilization summary over a server-validated day range.</a:t>
            </a:r>
            <a:endParaRPr lang="en-US" sz="1050" dirty="0"/>
          </a:p>
        </p:txBody>
      </p:sp>
      <p:sp>
        <p:nvSpPr>
          <p:cNvPr id="94" name="Text 90"/>
          <p:cNvSpPr/>
          <p:nvPr/>
        </p:nvSpPr>
        <p:spPr>
          <a:xfrm>
            <a:off x="8129016" y="5358384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IN:</a:t>
            </a:r>
            <a:endParaRPr lang="en-US" sz="900" dirty="0"/>
          </a:p>
        </p:txBody>
      </p:sp>
      <p:sp>
        <p:nvSpPr>
          <p:cNvPr id="95" name="Text 91"/>
          <p:cNvSpPr/>
          <p:nvPr/>
        </p:nvSpPr>
        <p:spPr>
          <a:xfrm>
            <a:off x="8421624" y="5358384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 (integer, validated range)</a:t>
            </a:r>
            <a:endParaRPr lang="en-US" sz="950" dirty="0"/>
          </a:p>
        </p:txBody>
      </p:sp>
      <p:sp>
        <p:nvSpPr>
          <p:cNvPr id="96" name="Text 92"/>
          <p:cNvSpPr/>
          <p:nvPr/>
        </p:nvSpPr>
        <p:spPr>
          <a:xfrm>
            <a:off x="8129016" y="565099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OUT:</a:t>
            </a:r>
            <a:endParaRPr lang="en-US" sz="900" dirty="0"/>
          </a:p>
        </p:txBody>
      </p:sp>
      <p:sp>
        <p:nvSpPr>
          <p:cNvPr id="97" name="Text 93"/>
          <p:cNvSpPr/>
          <p:nvPr/>
        </p:nvSpPr>
        <p:spPr>
          <a:xfrm>
            <a:off x="8494776" y="5650992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usage[ ]  — warehouse name, credits_used, period</a:t>
            </a:r>
            <a:endParaRPr lang="en-US" sz="950" dirty="0"/>
          </a:p>
        </p:txBody>
      </p:sp>
      <p:sp>
        <p:nvSpPr>
          <p:cNvPr id="98" name="Shape 94"/>
          <p:cNvSpPr/>
          <p:nvPr/>
        </p:nvSpPr>
        <p:spPr>
          <a:xfrm>
            <a:off x="8129016" y="5980176"/>
            <a:ext cx="3438144" cy="9144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8129016" y="6035040"/>
            <a:ext cx="343814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range validated server-side. Queries ACCOUNT_USAGE schema.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71323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Security, Safety &amp; Governance  |  Multi-Layer Control Model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01168" y="1719072"/>
            <a:ext cx="1783080" cy="27432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0896" y="1719072"/>
            <a:ext cx="1673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SAFETY MODES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01168" y="2029968"/>
            <a:ext cx="5623560" cy="4187952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01168" y="2029968"/>
            <a:ext cx="5623560" cy="457200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2057400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444752" y="2057400"/>
            <a:ext cx="23591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Allowed SQL Statements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913632" y="2057400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01168" y="2487168"/>
            <a:ext cx="56235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" y="2487168"/>
            <a:ext cx="54864" cy="87782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9184" y="2542032"/>
            <a:ext cx="96012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417320" y="2542032"/>
            <a:ext cx="2395728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  SHOW   DESCRIBE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886200" y="2542032"/>
            <a:ext cx="181051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Production: read-only safety.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 modification allowed.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01168" y="3401568"/>
            <a:ext cx="5623560" cy="1188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01168" y="3401568"/>
            <a:ext cx="54864" cy="1188720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9184" y="3456432"/>
            <a:ext cx="960120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1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417320" y="3438144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  SHOW   DESCRIBE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417320" y="3785616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  CREATE   INSERT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417320" y="4133088"/>
            <a:ext cx="23957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PROCEDURE   CALL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886200" y="3456432"/>
            <a:ext cx="1810512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Development: full workflow.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generation and SP authoring.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554480" y="2487168"/>
            <a:ext cx="9144" cy="2103120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059936" y="2487168"/>
            <a:ext cx="9144" cy="2103120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01168" y="4626864"/>
            <a:ext cx="5623560" cy="548640"/>
          </a:xfrm>
          <a:prstGeom prst="rect">
            <a:avLst/>
          </a:prstGeom>
          <a:solidFill>
            <a:srgbClr val="EAF6FF"/>
          </a:solidFill>
          <a:ln w="9525">
            <a:solidFill>
              <a:srgbClr val="29B5E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01168" y="4626864"/>
            <a:ext cx="54864" cy="54864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9184" y="464515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1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Auto-LIMIT Injection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29184" y="4901184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and WITH queries without an explicit LIMIT automatically receive the configured default row cap before execution.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01168" y="5212080"/>
            <a:ext cx="5623560" cy="530352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29184" y="5239512"/>
            <a:ext cx="539496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400 — Validation errors: bad identifier, unsafe SQL, out-of-range params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500 — Runtime errors: sanitised payload returned, no internals leaked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035040" y="1719072"/>
            <a:ext cx="2514600" cy="27432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144768" y="1719072"/>
            <a:ext cx="2404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&amp; RUNTIME CONTROLS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035040" y="2029968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035040" y="2029968"/>
            <a:ext cx="50292" cy="69494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0607040" y="2103120"/>
            <a:ext cx="987552" cy="219456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607040" y="2103120"/>
            <a:ext cx="9875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144768" y="208483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Identifier Validation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6144768" y="2377440"/>
            <a:ext cx="5321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regex on every database, schema, table, and warehouse identifier. Rejects malformed names and injection-risk patterns before any Snowflake call is made.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035040" y="2798064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035040" y="2798064"/>
            <a:ext cx="50292" cy="69494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789920" y="2871216"/>
            <a:ext cx="804672" cy="219456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10789920" y="287121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1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6144768" y="285292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max_rows Clamping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6144768" y="3145536"/>
            <a:ext cx="5321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run_query calls capped at SQL_MAX_ROWS regardless of the user value. Hard ceiling enforced server-side to prevent runaway result sets.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6035040" y="3566160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035040" y="3566160"/>
            <a:ext cx="50292" cy="69494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0424160" y="3639312"/>
            <a:ext cx="1170432" cy="219456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10424160" y="3639312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6144768" y="3621024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 Validation</a:t>
            </a:r>
            <a:endParaRPr lang="en-US" sz="1150" dirty="0"/>
          </a:p>
        </p:txBody>
      </p:sp>
      <p:sp>
        <p:nvSpPr>
          <p:cNvPr id="55" name="Text 51"/>
          <p:cNvSpPr/>
          <p:nvPr/>
        </p:nvSpPr>
        <p:spPr>
          <a:xfrm>
            <a:off x="6144768" y="3913632"/>
            <a:ext cx="5321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endpoint verifies all required Snowflake env vars on startup. Missing credentials reported in /health response before any tool call is accepted.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6035040" y="4334256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035040" y="4334256"/>
            <a:ext cx="50292" cy="69494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0607040" y="4407408"/>
            <a:ext cx="987552" cy="219456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10607040" y="4407408"/>
            <a:ext cx="9875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6144768" y="43891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CORS Allowlist</a:t>
            </a:r>
            <a:endParaRPr lang="en-US" sz="1150" dirty="0"/>
          </a:p>
        </p:txBody>
      </p:sp>
      <p:sp>
        <p:nvSpPr>
          <p:cNvPr id="61" name="Text 57"/>
          <p:cNvSpPr/>
          <p:nvPr/>
        </p:nvSpPr>
        <p:spPr>
          <a:xfrm>
            <a:off x="6144768" y="4681728"/>
            <a:ext cx="5321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MCP_CORS_ORIGINS env var restricts origins accepted by FastAPI middleware. Must be locked down to known frontend origins in production deployment.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6035040" y="5102352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6035040" y="5102352"/>
            <a:ext cx="50292" cy="69494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0332720" y="5175504"/>
            <a:ext cx="1261872" cy="219456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10332720" y="5175504"/>
            <a:ext cx="12618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57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6144768" y="515721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Timeout Control</a:t>
            </a:r>
            <a:endParaRPr lang="en-US" sz="1150" dirty="0"/>
          </a:p>
        </p:txBody>
      </p:sp>
      <p:sp>
        <p:nvSpPr>
          <p:cNvPr id="67" name="Text 63"/>
          <p:cNvSpPr/>
          <p:nvPr/>
        </p:nvSpPr>
        <p:spPr>
          <a:xfrm>
            <a:off x="6144768" y="5449824"/>
            <a:ext cx="5321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SQL_TIMEOUT_SECONDS enforces per-query ceiling server-side. Frontend MCPClient also applies a request-level abort timeout to prevent hanging UI threads.</a:t>
            </a:r>
            <a:endParaRPr lang="en-US" sz="950" dirty="0"/>
          </a:p>
        </p:txBody>
      </p:sp>
      <p:sp>
        <p:nvSpPr>
          <p:cNvPr id="68" name="Shape 64"/>
          <p:cNvSpPr/>
          <p:nvPr/>
        </p:nvSpPr>
        <p:spPr>
          <a:xfrm>
            <a:off x="6035040" y="5870448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035040" y="5870448"/>
            <a:ext cx="50292" cy="69494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0789920" y="5943600"/>
            <a:ext cx="804672" cy="219456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10789920" y="5943600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1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6144768" y="592531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Range Validation</a:t>
            </a:r>
            <a:endParaRPr lang="en-US" sz="1150" dirty="0"/>
          </a:p>
        </p:txBody>
      </p:sp>
      <p:sp>
        <p:nvSpPr>
          <p:cNvPr id="73" name="Text 69"/>
          <p:cNvSpPr/>
          <p:nvPr/>
        </p:nvSpPr>
        <p:spPr>
          <a:xfrm>
            <a:off x="6144768" y="6217920"/>
            <a:ext cx="53218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warehouse_usage days parameter validated to an allowed integer range server-side, preventing unbounded historical scans on the ACCOUNT_USAGE schema.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71323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  |  Full-Stack Modern Architecture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82880" y="1719072"/>
            <a:ext cx="2834640" cy="47548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1719072"/>
            <a:ext cx="26151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82880" y="2194560"/>
            <a:ext cx="28346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" y="2468880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3042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19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257860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framework with concurrent features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2980944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28163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 6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8640" y="309067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build tooling and dev server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0040" y="3493008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332841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TypeScript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48640" y="360273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type safety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0040" y="4005072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8404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Zustand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48640" y="411480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global state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0040" y="4517136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43525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48640" y="462686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Utility-first styling system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20040" y="5029200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48640" y="4864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Recharts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" y="513892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result visualization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20040" y="5541264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8640" y="53766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48640" y="565099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animation library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20040" y="6053328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48640" y="588873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Lucide React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48640" y="616305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Icon set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182112" y="1719072"/>
            <a:ext cx="2834640" cy="475488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91840" y="1719072"/>
            <a:ext cx="26151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3182112" y="2194560"/>
            <a:ext cx="28346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3319272" y="2468880"/>
            <a:ext cx="128016" cy="128016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547872" y="23042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3.12+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3547872" y="257860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(3.12 prioritized)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3319272" y="2980944"/>
            <a:ext cx="128016" cy="128016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547872" y="28163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3547872" y="309067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HTTP framework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3319272" y="3493008"/>
            <a:ext cx="128016" cy="128016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547872" y="332841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Uvicorn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3547872" y="360273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ASGI server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319272" y="4005072"/>
            <a:ext cx="128016" cy="128016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547872" y="38404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snowflake-connector-python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3547872" y="411480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 client driver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3319272" y="4517136"/>
            <a:ext cx="128016" cy="128016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547872" y="43525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sqlglot</a:t>
            </a:r>
            <a:endParaRPr lang="en-US" sz="1150" dirty="0"/>
          </a:p>
        </p:txBody>
      </p:sp>
      <p:sp>
        <p:nvSpPr>
          <p:cNvPr id="53" name="Text 49"/>
          <p:cNvSpPr/>
          <p:nvPr/>
        </p:nvSpPr>
        <p:spPr>
          <a:xfrm>
            <a:off x="3547872" y="462686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parsing and classification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3319272" y="5029200"/>
            <a:ext cx="128016" cy="128016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547872" y="4864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python-dotenv</a:t>
            </a:r>
            <a:endParaRPr lang="en-US" sz="1150" dirty="0"/>
          </a:p>
        </p:txBody>
      </p:sp>
      <p:sp>
        <p:nvSpPr>
          <p:cNvPr id="56" name="Text 52"/>
          <p:cNvSpPr/>
          <p:nvPr/>
        </p:nvSpPr>
        <p:spPr>
          <a:xfrm>
            <a:off x="3547872" y="513892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config loader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6181344" y="1719072"/>
            <a:ext cx="2834640" cy="475488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291072" y="1719072"/>
            <a:ext cx="26151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6181344" y="2194560"/>
            <a:ext cx="28346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60" name="Shape 56"/>
          <p:cNvSpPr/>
          <p:nvPr/>
        </p:nvSpPr>
        <p:spPr>
          <a:xfrm>
            <a:off x="6318504" y="2468880"/>
            <a:ext cx="128016" cy="128016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547104" y="23042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</a:t>
            </a:r>
            <a:endParaRPr lang="en-US" sz="1150" dirty="0"/>
          </a:p>
        </p:txBody>
      </p:sp>
      <p:sp>
        <p:nvSpPr>
          <p:cNvPr id="62" name="Text 58"/>
          <p:cNvSpPr/>
          <p:nvPr/>
        </p:nvSpPr>
        <p:spPr>
          <a:xfrm>
            <a:off x="6547104" y="257860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data warehouse layer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6318504" y="2980944"/>
            <a:ext cx="128016" cy="128016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547104" y="28163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20+</a:t>
            </a:r>
            <a:endParaRPr lang="en-US" sz="1150" dirty="0"/>
          </a:p>
        </p:txBody>
      </p:sp>
      <p:sp>
        <p:nvSpPr>
          <p:cNvPr id="65" name="Text 61"/>
          <p:cNvSpPr/>
          <p:nvPr/>
        </p:nvSpPr>
        <p:spPr>
          <a:xfrm>
            <a:off x="6547104" y="309067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runtime and scripts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6318504" y="3493008"/>
            <a:ext cx="128016" cy="128016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6547104" y="332841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endParaRPr lang="en-US" sz="1150" dirty="0"/>
          </a:p>
        </p:txBody>
      </p:sp>
      <p:sp>
        <p:nvSpPr>
          <p:cNvPr id="68" name="Text 64"/>
          <p:cNvSpPr/>
          <p:nvPr/>
        </p:nvSpPr>
        <p:spPr>
          <a:xfrm>
            <a:off x="6547104" y="360273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package management</a:t>
            </a:r>
            <a:endParaRPr lang="en-US" sz="950" dirty="0"/>
          </a:p>
        </p:txBody>
      </p:sp>
      <p:sp>
        <p:nvSpPr>
          <p:cNvPr id="69" name="Shape 65"/>
          <p:cNvSpPr/>
          <p:nvPr/>
        </p:nvSpPr>
        <p:spPr>
          <a:xfrm>
            <a:off x="6318504" y="4005072"/>
            <a:ext cx="128016" cy="128016"/>
          </a:xfrm>
          <a:prstGeom prst="rect">
            <a:avLst/>
          </a:prstGeom>
          <a:solidFill>
            <a:srgbClr val="00518E"/>
          </a:solidFill>
          <a:ln w="12700">
            <a:solidFill>
              <a:srgbClr val="00518E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547104" y="38404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npm</a:t>
            </a:r>
            <a:endParaRPr lang="en-US" sz="1150" dirty="0"/>
          </a:p>
        </p:txBody>
      </p:sp>
      <p:sp>
        <p:nvSpPr>
          <p:cNvPr id="71" name="Text 67"/>
          <p:cNvSpPr/>
          <p:nvPr/>
        </p:nvSpPr>
        <p:spPr>
          <a:xfrm>
            <a:off x="6547104" y="411480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package management</a:t>
            </a:r>
            <a:endParaRPr lang="en-US" sz="950" dirty="0"/>
          </a:p>
        </p:txBody>
      </p:sp>
      <p:sp>
        <p:nvSpPr>
          <p:cNvPr id="72" name="Shape 68"/>
          <p:cNvSpPr/>
          <p:nvPr/>
        </p:nvSpPr>
        <p:spPr>
          <a:xfrm>
            <a:off x="9180576" y="1719072"/>
            <a:ext cx="2834640" cy="475488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9290304" y="1719072"/>
            <a:ext cx="26151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Contract</a:t>
            </a:r>
            <a:endParaRPr lang="en-US" sz="1400" dirty="0"/>
          </a:p>
        </p:txBody>
      </p:sp>
      <p:sp>
        <p:nvSpPr>
          <p:cNvPr id="74" name="Shape 70"/>
          <p:cNvSpPr/>
          <p:nvPr/>
        </p:nvSpPr>
        <p:spPr>
          <a:xfrm>
            <a:off x="9180576" y="2194560"/>
            <a:ext cx="28346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9317736" y="2468880"/>
            <a:ext cx="128016" cy="128016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9546336" y="23042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/health</a:t>
            </a:r>
            <a:endParaRPr lang="en-US" sz="1150" dirty="0"/>
          </a:p>
        </p:txBody>
      </p:sp>
      <p:sp>
        <p:nvSpPr>
          <p:cNvPr id="77" name="Text 73"/>
          <p:cNvSpPr/>
          <p:nvPr/>
        </p:nvSpPr>
        <p:spPr>
          <a:xfrm>
            <a:off x="9546336" y="257860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Status, env, connector check</a:t>
            </a:r>
            <a:endParaRPr lang="en-US" sz="950" dirty="0"/>
          </a:p>
        </p:txBody>
      </p:sp>
      <p:sp>
        <p:nvSpPr>
          <p:cNvPr id="78" name="Shape 74"/>
          <p:cNvSpPr/>
          <p:nvPr/>
        </p:nvSpPr>
        <p:spPr>
          <a:xfrm>
            <a:off x="9317736" y="2980944"/>
            <a:ext cx="128016" cy="128016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9546336" y="28163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/mcp/tools</a:t>
            </a:r>
            <a:endParaRPr lang="en-US" sz="1150" dirty="0"/>
          </a:p>
        </p:txBody>
      </p:sp>
      <p:sp>
        <p:nvSpPr>
          <p:cNvPr id="80" name="Text 76"/>
          <p:cNvSpPr/>
          <p:nvPr/>
        </p:nvSpPr>
        <p:spPr>
          <a:xfrm>
            <a:off x="9546336" y="309067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schema discovery</a:t>
            </a:r>
            <a:endParaRPr lang="en-US" sz="950" dirty="0"/>
          </a:p>
        </p:txBody>
      </p:sp>
      <p:sp>
        <p:nvSpPr>
          <p:cNvPr id="81" name="Shape 77"/>
          <p:cNvSpPr/>
          <p:nvPr/>
        </p:nvSpPr>
        <p:spPr>
          <a:xfrm>
            <a:off x="9317736" y="3493008"/>
            <a:ext cx="128016" cy="128016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9546336" y="332841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/mcp/call</a:t>
            </a:r>
            <a:endParaRPr lang="en-US" sz="1150" dirty="0"/>
          </a:p>
        </p:txBody>
      </p:sp>
      <p:sp>
        <p:nvSpPr>
          <p:cNvPr id="83" name="Text 79"/>
          <p:cNvSpPr/>
          <p:nvPr/>
        </p:nvSpPr>
        <p:spPr>
          <a:xfrm>
            <a:off x="9546336" y="360273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invocation dispatch</a:t>
            </a:r>
            <a:endParaRPr lang="en-US" sz="950" dirty="0"/>
          </a:p>
        </p:txBody>
      </p:sp>
      <p:sp>
        <p:nvSpPr>
          <p:cNvPr id="84" name="Shape 80"/>
          <p:cNvSpPr/>
          <p:nvPr/>
        </p:nvSpPr>
        <p:spPr>
          <a:xfrm>
            <a:off x="9317736" y="4005072"/>
            <a:ext cx="128016" cy="128016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9546336" y="38404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/mcp/events</a:t>
            </a:r>
            <a:endParaRPr lang="en-US" sz="1150" dirty="0"/>
          </a:p>
        </p:txBody>
      </p:sp>
      <p:sp>
        <p:nvSpPr>
          <p:cNvPr id="86" name="Text 82"/>
          <p:cNvSpPr/>
          <p:nvPr/>
        </p:nvSpPr>
        <p:spPr>
          <a:xfrm>
            <a:off x="9546336" y="4114800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SSE real-time event stream</a:t>
            </a:r>
            <a:endParaRPr lang="en-US" sz="950" dirty="0"/>
          </a:p>
        </p:txBody>
      </p:sp>
      <p:sp>
        <p:nvSpPr>
          <p:cNvPr id="87" name="Shape 83"/>
          <p:cNvSpPr/>
          <p:nvPr/>
        </p:nvSpPr>
        <p:spPr>
          <a:xfrm>
            <a:off x="9317736" y="4517136"/>
            <a:ext cx="128016" cy="128016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9546336" y="435254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{ name, arguments }</a:t>
            </a:r>
            <a:endParaRPr lang="en-US" sz="1150" dirty="0"/>
          </a:p>
        </p:txBody>
      </p:sp>
      <p:sp>
        <p:nvSpPr>
          <p:cNvPr id="89" name="Text 85"/>
          <p:cNvSpPr/>
          <p:nvPr/>
        </p:nvSpPr>
        <p:spPr>
          <a:xfrm>
            <a:off x="9546336" y="462686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request payload shape</a:t>
            </a:r>
            <a:endParaRPr lang="en-US" sz="950" dirty="0"/>
          </a:p>
        </p:txBody>
      </p:sp>
      <p:sp>
        <p:nvSpPr>
          <p:cNvPr id="90" name="Shape 86"/>
          <p:cNvSpPr/>
          <p:nvPr/>
        </p:nvSpPr>
        <p:spPr>
          <a:xfrm>
            <a:off x="9317736" y="5029200"/>
            <a:ext cx="128016" cy="128016"/>
          </a:xfrm>
          <a:prstGeom prst="rect">
            <a:avLst/>
          </a:prstGeom>
          <a:solidFill>
            <a:srgbClr val="16578D"/>
          </a:solidFill>
          <a:ln w="12700">
            <a:solidFill>
              <a:srgbClr val="16578D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9546336" y="4864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{ ok, name, result }</a:t>
            </a:r>
            <a:endParaRPr lang="en-US" sz="1150" dirty="0"/>
          </a:p>
        </p:txBody>
      </p:sp>
      <p:sp>
        <p:nvSpPr>
          <p:cNvPr id="92" name="Text 88"/>
          <p:cNvSpPr/>
          <p:nvPr/>
        </p:nvSpPr>
        <p:spPr>
          <a:xfrm>
            <a:off x="9546336" y="513892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response payload shape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71323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Performance, Reliability &amp; DevOps  |  Operational Guide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28600" y="1719072"/>
            <a:ext cx="2606040" cy="27432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8328" y="1719072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&amp; RELIABILITY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28600" y="2029968"/>
            <a:ext cx="5577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8600" y="2029968"/>
            <a:ext cx="50292" cy="89611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210312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Lazy Snowflake Connection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2414016"/>
            <a:ext cx="4663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connection with thread locks around connection/query/cache state and retry-on-failure with automatic connection reset.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28600" y="3072384"/>
            <a:ext cx="5577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28600" y="3072384"/>
            <a:ext cx="50292" cy="89611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3145536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 Cache (TTL 300s)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14400" y="3456432"/>
            <a:ext cx="4663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 operations (databases, schemas, tables) cached server-side for 5 minutes to reduce repeated warehouse round-trips.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28600" y="4114800"/>
            <a:ext cx="5577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28600" y="4114800"/>
            <a:ext cx="50292" cy="89611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" y="418795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Concurrency Control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14400" y="4498848"/>
            <a:ext cx="4663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Explorer hydration with controlled concurrency for schema/table metadata. Local storage cache with abort-aware MCP request timeouts.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28600" y="5157216"/>
            <a:ext cx="55778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28600" y="5157216"/>
            <a:ext cx="50292" cy="89611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14400" y="5230368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Timeout Architecture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" y="5541264"/>
            <a:ext cx="4663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SQL_TIMEOUT_SECONDS enforces per-query ceiling server-side. Frontend MCPClient has configurable abort timeout to prevent hanging UI threads.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035040" y="1719072"/>
            <a:ext cx="2148840" cy="27432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144768" y="1719072"/>
            <a:ext cx="2039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 &amp; RUN COMMANDS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035040" y="2029968"/>
            <a:ext cx="592531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035040" y="2029968"/>
            <a:ext cx="5925312" cy="320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44768" y="2029968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Prerequisites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144768" y="2377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Node.js 20+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144768" y="267004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Python 3.10+ (3.12 recommended)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144768" y="296265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pip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035040" y="3328416"/>
            <a:ext cx="5925312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035040" y="3328416"/>
            <a:ext cx="5925312" cy="320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144768" y="3328416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144768" y="367588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npm install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144768" y="396849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copy .env.example .env.local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144768" y="426110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npm run mcp:install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035040" y="4626864"/>
            <a:ext cx="592531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035040" y="4626864"/>
            <a:ext cx="5925312" cy="320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144768" y="4626864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(Full Stack)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144768" y="497433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npm run dev:full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6035040" y="5340096"/>
            <a:ext cx="59253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035040" y="5340096"/>
            <a:ext cx="5925312" cy="320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144768" y="5340096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(Split)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6144768" y="56875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Terminal 1: npm run dev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6144768" y="598017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Terminal 2: npm run mcp:dev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6035040" y="6345936"/>
            <a:ext cx="59253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035040" y="6345936"/>
            <a:ext cx="5925312" cy="320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144768" y="6345936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6144768" y="669340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Frontend: http://127.0.0.1:3000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6144768" y="698601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 Backend: http://127.0.0.1:5000/health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1737360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749808"/>
            <a:ext cx="12188952" cy="713232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49808"/>
            <a:ext cx="12188952" cy="5029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749808"/>
            <a:ext cx="11612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Roadmap, Limitations &amp; Success Metrics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6601968"/>
            <a:ext cx="11640312" cy="10973"/>
          </a:xfrm>
          <a:prstGeom prst="rect">
            <a:avLst/>
          </a:prstGeom>
          <a:solidFill>
            <a:srgbClr val="D0E2F5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  |  Pi by 3  |  March 2026  |  Confidential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28600" y="1691640"/>
            <a:ext cx="1965960" cy="27432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8328" y="1691640"/>
            <a:ext cx="1856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PRIORITIES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28600" y="2011680"/>
            <a:ext cx="3794760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" y="2011680"/>
            <a:ext cx="3566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1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28600" y="2432304"/>
            <a:ext cx="37947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633472"/>
            <a:ext cx="201168" cy="201168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7512" y="2523744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Standardised audit/event logging for all tool calls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236976"/>
            <a:ext cx="201168" cy="201168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7512" y="312724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Lazy-loading and pagination for large Snowflake estates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3840480"/>
            <a:ext cx="201168" cy="201168"/>
          </a:xfrm>
          <a:prstGeom prst="ellipse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" y="373075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Expanded retries and user-facing timeout remediation hints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206240" y="2011680"/>
            <a:ext cx="3794760" cy="420624"/>
          </a:xfrm>
          <a:prstGeom prst="rect">
            <a:avLst/>
          </a:prstGeom>
          <a:solidFill>
            <a:srgbClr val="1D4A98"/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15968" y="2011680"/>
            <a:ext cx="3566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206240" y="2432304"/>
            <a:ext cx="37947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343400" y="2633472"/>
            <a:ext cx="201168" cy="201168"/>
          </a:xfrm>
          <a:prstGeom prst="ellipse">
            <a:avLst/>
          </a:prstGeom>
          <a:solidFill>
            <a:srgbClr val="1D4A98">
              <a:alpha val="80000"/>
            </a:srgbClr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45152" y="2523744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and flow definitions in external config for governance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343400" y="3236976"/>
            <a:ext cx="201168" cy="201168"/>
          </a:xfrm>
          <a:prstGeom prst="ellipse">
            <a:avLst/>
          </a:prstGeom>
          <a:solidFill>
            <a:srgbClr val="1D4A98">
              <a:alpha val="80000"/>
            </a:srgbClr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45152" y="312724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Richer chart configurability and semantic result rendering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43400" y="3840480"/>
            <a:ext cx="201168" cy="201168"/>
          </a:xfrm>
          <a:prstGeom prst="ellipse">
            <a:avLst/>
          </a:prstGeom>
          <a:solidFill>
            <a:srgbClr val="1D4A98">
              <a:alpha val="80000"/>
            </a:srgbClr>
          </a:solidFill>
          <a:ln w="12700">
            <a:solidFill>
              <a:srgbClr val="1D4A9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45152" y="373075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tests for endpoint contracts and tool responses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183880" y="2011680"/>
            <a:ext cx="3794760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93608" y="2011680"/>
            <a:ext cx="3566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3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183880" y="2432304"/>
            <a:ext cx="37947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5"/>
            </a:solidFill>
            <a:prstDash val="solid"/>
          </a:ln>
          <a:effectLst>
            <a:outerShdw blurRad="127000" dist="38100" dir="8100000" algn="bl" rotWithShape="0">
              <a:srgbClr val="1D4A98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321040" y="2633472"/>
            <a:ext cx="201168" cy="201168"/>
          </a:xfrm>
          <a:prstGeom prst="ellipse">
            <a:avLst/>
          </a:prstGeom>
          <a:solidFill>
            <a:srgbClr val="6A1B9A">
              <a:alpha val="8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22792" y="2523744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Role-aware UI capabilities and access-level governance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321040" y="3236976"/>
            <a:ext cx="201168" cy="201168"/>
          </a:xfrm>
          <a:prstGeom prst="ellipse">
            <a:avLst/>
          </a:prstGeom>
          <a:solidFill>
            <a:srgbClr val="6A1B9A">
              <a:alpha val="8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622792" y="3127248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deployment profile documentation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8321040" y="3840480"/>
            <a:ext cx="201168" cy="201168"/>
          </a:xfrm>
          <a:prstGeom prst="ellipse">
            <a:avLst/>
          </a:prstGeom>
          <a:solidFill>
            <a:srgbClr val="6A1B9A">
              <a:alpha val="8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622792" y="373075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Compliance-grade audit trail for backend tool calls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228600" y="4553712"/>
            <a:ext cx="1874520" cy="27432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38328" y="4553712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 LIMITATIONS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228600" y="4864608"/>
            <a:ext cx="2240280" cy="1261872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28600" y="4864608"/>
            <a:ext cx="2240280" cy="4572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38328" y="4956048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generation is heuristic/pattern-driven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2606040" y="4864608"/>
            <a:ext cx="2240280" cy="1261872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606040" y="4864608"/>
            <a:ext cx="2240280" cy="4572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715768" y="4956048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templates largely hardcoded in runtime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4983480" y="4864608"/>
            <a:ext cx="2240280" cy="1261872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983480" y="4864608"/>
            <a:ext cx="2240280" cy="4572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093208" y="4956048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Explorer heavy in large Snowflake estates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7360920" y="4864608"/>
            <a:ext cx="2240280" cy="1261872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360920" y="4864608"/>
            <a:ext cx="2240280" cy="4572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470648" y="4956048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compliance-grade audit trail yet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9738360" y="4864608"/>
            <a:ext cx="2240280" cy="1261872"/>
          </a:xfrm>
          <a:prstGeom prst="rect">
            <a:avLst/>
          </a:prstGeom>
          <a:solidFill>
            <a:srgbClr val="EEF4FB"/>
          </a:solidFill>
          <a:ln w="9525">
            <a:solidFill>
              <a:srgbClr val="D0E2F5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9738360" y="4864608"/>
            <a:ext cx="2240280" cy="4572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848088" y="4956048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3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remediation UX can be expanded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228600" y="6254496"/>
            <a:ext cx="1691640" cy="274320"/>
          </a:xfrm>
          <a:prstGeom prst="rect">
            <a:avLst/>
          </a:prstGeom>
          <a:solidFill>
            <a:srgbClr val="E8F0FB"/>
          </a:solidFill>
          <a:ln w="12700">
            <a:solidFill>
              <a:srgbClr val="D0E2F5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38328" y="6254496"/>
            <a:ext cx="15819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METRICS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320040" y="62544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Time to first correct SQL draft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2697480" y="62544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Query success rate on first run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5074920" y="62544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Avg result turnaround time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7452360" y="62544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Explorer load completion time</a:t>
            </a:r>
            <a:endParaRPr lang="en-US" sz="950" dirty="0"/>
          </a:p>
        </p:txBody>
      </p:sp>
      <p:sp>
        <p:nvSpPr>
          <p:cNvPr id="61" name="Text 57"/>
          <p:cNvSpPr/>
          <p:nvPr/>
        </p:nvSpPr>
        <p:spPr>
          <a:xfrm>
            <a:off x="9829800" y="62544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A9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Credit efficiency after optimizer use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D1A7D"/>
          </a:solidFill>
          <a:ln w="12700">
            <a:solidFill>
              <a:srgbClr val="0D1A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621792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0"/>
            <a:ext cx="50292" cy="685800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6309360"/>
            <a:ext cx="6217920" cy="5943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828800" cy="685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01168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457200" y="3108960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C4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pi-Optimized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7200" y="373075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CA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Snowflake Analytics Workspace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3093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Pi by 3  |  Transforming Enterprises for Future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92240" y="100584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at a Glance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492240" y="1536192"/>
            <a:ext cx="5440680" cy="2286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1847088"/>
            <a:ext cx="256032" cy="25603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18470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858000" y="173736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FastAPI + Snowflake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0" y="201168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with explicit MCP contracts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92240" y="2505456"/>
            <a:ext cx="256032" cy="25603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25054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858000" y="239572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Structured MCP Tools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858000" y="2670048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Execution, metadata, infrastructure, analytics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92240" y="3163824"/>
            <a:ext cx="256032" cy="25603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92240" y="316382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858000" y="305409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Safety Modes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858000" y="3328416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 (read-only) and Dev (full) with auto-LIMIT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492240" y="3822192"/>
            <a:ext cx="256032" cy="25603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92240" y="382219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858000" y="371246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6+ Skill Workflows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858000" y="3986784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Architect to Query Optimizer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492240" y="4480560"/>
            <a:ext cx="256032" cy="25603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92240" y="448056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858000" y="437083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 Cache (TTL 300s)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858000" y="4645152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warehouse load on repeated explores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492240" y="5138928"/>
            <a:ext cx="256032" cy="25603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92240" y="51389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858000" y="502920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Retry &amp; Timeout Architecture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858000" y="530352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execution with graceful degradation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492240" y="5797296"/>
            <a:ext cx="256032" cy="256032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92240" y="57972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858000" y="568756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A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&amp; Observability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858000" y="5961888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D73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MCP bridge status monitoring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11612</Words>
  <Application>WPS Presentation</Application>
  <PresentationFormat>On-screen Show (16:9)</PresentationFormat>
  <Paragraphs>690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pi-Optimized — AI-Assisted Snowflake Analytics Workspace</dc:title>
  <dc:creator>PptxGenJS</dc:creator>
  <dc:subject>PptxGenJS Presentation</dc:subject>
  <cp:lastModifiedBy>Dipak.Mandlik</cp:lastModifiedBy>
  <cp:revision>2</cp:revision>
  <dcterms:created xsi:type="dcterms:W3CDTF">2026-03-24T03:54:00Z</dcterms:created>
  <dcterms:modified xsi:type="dcterms:W3CDTF">2026-03-24T03:59:36Z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2425A16C70854901ABFDCCA9D5159643_12</vt:lpwstr>
  </property>
  <property fmtid="{D5CDD505-2E9C-101B-9397-08002B2CF9AE}" pid="3" name="KSOProductBuildVer">
    <vt:lpwstr>1033-12.2.0.23196</vt:lpwstr>
  </property>
</Properties>
</file>